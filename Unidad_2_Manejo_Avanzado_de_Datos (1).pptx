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3977639" cy="1463040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0" y="822960"/>
            <a:ext cx="3337560" cy="475488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0" y="1600200"/>
            <a:ext cx="2377440" cy="475488"/>
          </a:xfrm>
          <a:prstGeom prst="round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0" y="2377440"/>
            <a:ext cx="3611880" cy="475488"/>
          </a:xfrm>
          <a:prstGeom prst="round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0" y="3154680"/>
            <a:ext cx="2697480" cy="475488"/>
          </a:xfrm>
          <a:prstGeom prst="roundRect">
            <a:avLst/>
          </a:prstGeom>
          <a:solidFill>
            <a:srgbClr val="228B67"/>
          </a:solidFill>
          <a:ln>
            <a:solidFill>
              <a:srgbClr val="22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85800"/>
            <a:ext cx="2743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PRESENTACIÓN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08176"/>
            <a:ext cx="6675120" cy="1143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Manejo Avanzado</a:t>
            </a:r>
            <a:br/>
            <a:r>
              <a:rPr sz="3500" b="1">
                <a:solidFill>
                  <a:srgbClr val="FFFFFF"/>
                </a:solidFill>
                <a:latin typeface="Aptos"/>
              </a:rPr>
              <a:t>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224528"/>
            <a:ext cx="621792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0">
                <a:solidFill>
                  <a:srgbClr val="DCF0F5"/>
                </a:solidFill>
                <a:latin typeface="Aptos"/>
              </a:rPr>
              <a:t>Unidad 2 · Consultas, transacciones,</a:t>
            </a:r>
            <a:br/>
            <a:r>
              <a:rPr sz="1700" b="0">
                <a:solidFill>
                  <a:srgbClr val="DCF0F5"/>
                </a:solidFill>
                <a:latin typeface="Aptos"/>
              </a:rPr>
              <a:t>programación SQL y rendimiento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6080760"/>
            <a:ext cx="36576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Duración sugerida: 16–20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Propósito y resultados de aprendizaje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91440" cy="434340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9067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Propósito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21991"/>
            <a:ext cx="3127248" cy="3593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0">
                <a:solidFill>
                  <a:srgbClr val="1F2B37"/>
                </a:solidFill>
                <a:latin typeface="Aptos"/>
              </a:rPr>
              <a:t>Diseñar consultas más expresivas, proteger operaciones críticas con transacciones y mejorar el rendimiento de acceso a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72768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72768"/>
            <a:ext cx="91440" cy="4343400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19072"/>
            <a:ext cx="309067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Al finalizar podrás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31136"/>
            <a:ext cx="3154679" cy="3593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Resolver consultas con JOIN, agregaciones, subconsultas y CTE.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Aplicar transacciones y comprender ACID.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Crear procedimientos almacenados y funciones.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572768"/>
            <a:ext cx="3474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572768"/>
            <a:ext cx="91440" cy="434340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19072"/>
            <a:ext cx="309067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También podrás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231136"/>
            <a:ext cx="3154679" cy="3593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Elegir y analizar índices.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Interpretar planes de ejecución básicos.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Identificar bloqueos y problemas de concurrencia.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Ruta de aprendizaje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676656" cy="896112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37943"/>
            <a:ext cx="438912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1819656"/>
            <a:ext cx="3977639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Consultas SQL avanzadas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72768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572768"/>
            <a:ext cx="676656" cy="896112"/>
          </a:xfrm>
          <a:prstGeom prst="round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3"/>
            <a:ext cx="438912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819656"/>
            <a:ext cx="3977639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Transacciones y propiedades ACID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71215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871215"/>
            <a:ext cx="676656" cy="896112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136391"/>
            <a:ext cx="438912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3118103"/>
            <a:ext cx="3977639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Procedimientos almacenados y funciones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71215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871215"/>
            <a:ext cx="676656" cy="896112"/>
          </a:xfrm>
          <a:prstGeom prst="round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136391"/>
            <a:ext cx="438912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3118103"/>
            <a:ext cx="3977639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Índices y optimización de consultas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69663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4169663"/>
            <a:ext cx="676656" cy="896112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434840"/>
            <a:ext cx="438912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" y="4416552"/>
            <a:ext cx="3977639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Concurrencia, bloqueos y aislamiento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69663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4169663"/>
            <a:ext cx="676656" cy="896112"/>
          </a:xfrm>
          <a:prstGeom prst="round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434840"/>
            <a:ext cx="438912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4416552"/>
            <a:ext cx="3977639" cy="23774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Introducción a NoSQL: cuándo usarlo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687568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5E6C79"/>
                </a:solidFill>
                <a:latin typeface="Aptos"/>
              </a:rPr>
              <a:t>Caso conductor: proceso de inscripción y control de cupos en un sistema escolar.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2.1 Consultas avanzadas: relacionar información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91440" cy="443484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299923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3063240" cy="36850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INNER JOIN: solo coincidencias.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LEFT JOIN: conserva todos los registros de la tabla izquierda.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Permite responder preguntas que involucran varias tablas.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55448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1554480"/>
            <a:ext cx="91440" cy="4434840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700784"/>
            <a:ext cx="299923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Agregaciones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212848"/>
            <a:ext cx="3063240" cy="36850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COUNT, SUM, AVG, MIN, MAX.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GROUP BY para agrupar resultados.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HAVING para filtrar grupos.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91440" cy="443484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00784"/>
            <a:ext cx="299923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Otras herramientas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12848"/>
            <a:ext cx="3063240" cy="36850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Subconsultas: consulta dentro de otra.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CTE: resultado temporal legible.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Funciones de ventana: rankings y acumulados.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Ejemplo: estudiantes y materias inscritas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17904"/>
            <a:ext cx="6629400" cy="4526280"/>
          </a:xfrm>
          <a:prstGeom prst="roundRect">
            <a:avLst/>
          </a:prstGeom>
          <a:solidFill>
            <a:srgbClr val="0D203A"/>
          </a:solidFill>
          <a:ln>
            <a:solidFill>
              <a:srgbClr val="0D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6108192" cy="3959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Consolas"/>
              </a:rPr>
              <a:t>SELECT e.Matricula, e.Nombre, m.Nombre AS Materia</a:t>
            </a:r>
            <a:br/>
            <a:r>
              <a:rPr sz="1600" b="0">
                <a:solidFill>
                  <a:srgbClr val="EAF5FF"/>
                </a:solidFill>
                <a:latin typeface="Consolas"/>
              </a:rPr>
              <a:t>FROM Estudiantes e</a:t>
            </a:r>
            <a:br/>
            <a:r>
              <a:rPr sz="1600" b="0">
                <a:solidFill>
                  <a:srgbClr val="EAF5FF"/>
                </a:solidFill>
                <a:latin typeface="Consolas"/>
              </a:rPr>
              <a:t>INNER JOIN Inscripciones i</a:t>
            </a:r>
            <a:br/>
            <a:r>
              <a:rPr sz="1600" b="0">
                <a:solidFill>
                  <a:srgbClr val="EAF5FF"/>
                </a:solidFill>
                <a:latin typeface="Consolas"/>
              </a:rPr>
              <a:t>    ON i.IdEstudiante = e.IdEstudiante</a:t>
            </a:r>
            <a:br/>
            <a:r>
              <a:rPr sz="1600" b="0">
                <a:solidFill>
                  <a:srgbClr val="EAF5FF"/>
                </a:solidFill>
                <a:latin typeface="Consolas"/>
              </a:rPr>
              <a:t>INNER JOIN Materias m</a:t>
            </a:r>
            <a:br/>
            <a:r>
              <a:rPr sz="1600" b="0">
                <a:solidFill>
                  <a:srgbClr val="EAF5FF"/>
                </a:solidFill>
                <a:latin typeface="Consolas"/>
              </a:rPr>
              <a:t>    ON m.IdMateria = i.IdMateria</a:t>
            </a:r>
            <a:br/>
            <a:r>
              <a:rPr sz="1600" b="0">
                <a:solidFill>
                  <a:srgbClr val="EAF5FF"/>
                </a:solidFill>
                <a:latin typeface="Consolas"/>
              </a:rPr>
              <a:t>WHERE e.Activo = 1</a:t>
            </a:r>
            <a:br/>
            <a:r>
              <a:rPr sz="1600" b="0">
                <a:solidFill>
                  <a:srgbClr val="EAF5FF"/>
                </a:solidFill>
                <a:latin typeface="Consolas"/>
              </a:rPr>
              <a:t>ORDER BY e.Nombre, m.Nombre;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6096" y="1554480"/>
            <a:ext cx="384048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6096" y="1554480"/>
            <a:ext cx="91440" cy="184708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700784"/>
            <a:ext cx="345643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Lectura de la consulta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2212848"/>
            <a:ext cx="3520440" cy="10972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Partimos de Estudiantes.</a:t>
            </a:r>
          </a:p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Unimos Inscripciones con la FK.</a:t>
            </a:r>
          </a:p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Unimos Materias para obtener el nombre.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6096" y="3749039"/>
            <a:ext cx="384048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26096" y="3749039"/>
            <a:ext cx="91440" cy="1847088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54696" y="3895344"/>
            <a:ext cx="345643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Reto para el grupo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5" y="4407407"/>
            <a:ext cx="3520440" cy="10972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Cambiar INNER JOIN por LEFT JOIN.</a:t>
            </a:r>
          </a:p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¿Qué estudiantes aparecerían ahora?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Agregaciones, subconsultas y CTE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36192"/>
            <a:ext cx="521208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3936"/>
            <a:ext cx="464515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1">
                <a:solidFill>
                  <a:srgbClr val="0D203A"/>
                </a:solidFill>
                <a:latin typeface="Aptos"/>
              </a:rPr>
              <a:t>Ejemplo: contar inscripciones por materia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4617720" cy="187451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0D203A"/>
                </a:solidFill>
                <a:latin typeface="Consolas"/>
              </a:rPr>
              <a:t>SELECT m.Nombre, COUNT(i.IdInscripcion) AS Total</a:t>
            </a:r>
            <a:br/>
            <a:r>
              <a:rPr sz="1400" b="0">
                <a:solidFill>
                  <a:srgbClr val="0D203A"/>
                </a:solidFill>
                <a:latin typeface="Consolas"/>
              </a:rPr>
              <a:t>FROM Materias m</a:t>
            </a:r>
            <a:br/>
            <a:r>
              <a:rPr sz="1400" b="0">
                <a:solidFill>
                  <a:srgbClr val="0D203A"/>
                </a:solidFill>
                <a:latin typeface="Consolas"/>
              </a:rPr>
              <a:t>LEFT JOIN Inscripciones i ON i.IdMateria = m.IdMateria</a:t>
            </a:r>
            <a:br/>
            <a:r>
              <a:rPr sz="1400" b="0">
                <a:solidFill>
                  <a:srgbClr val="0D203A"/>
                </a:solidFill>
                <a:latin typeface="Consolas"/>
              </a:rPr>
              <a:t>GROUP BY m.Nombre</a:t>
            </a:r>
            <a:br/>
            <a:r>
              <a:rPr sz="1400" b="0">
                <a:solidFill>
                  <a:srgbClr val="0D203A"/>
                </a:solidFill>
                <a:latin typeface="Consolas"/>
              </a:rPr>
              <a:t>HAVING COUNT(i.IdInscripcion) &gt; 0;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36192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36192"/>
            <a:ext cx="91440" cy="2057400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82495"/>
            <a:ext cx="48737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Subconsulta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85415"/>
            <a:ext cx="4910328" cy="1307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1F2B37"/>
                </a:solidFill>
                <a:latin typeface="Aptos"/>
              </a:rPr>
              <a:t>Permite comparar con un resultado previo. Ejemplo: estudiantes inscritos en más materias que el promedio.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77639"/>
            <a:ext cx="91440" cy="205740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23944"/>
            <a:ext cx="48737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CTE (Common Table Expression)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626864"/>
            <a:ext cx="4910328" cy="1307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1F2B37"/>
                </a:solidFill>
                <a:latin typeface="Aptos"/>
              </a:rPr>
              <a:t>Da nombre temporal a una consulta compleja. Mejora legibilidad y permite organizar pasos lógicos.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2.2 Transacciones: operaciones completas o ninguna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08760"/>
            <a:ext cx="106984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1F2B37"/>
                </a:solidFill>
                <a:latin typeface="Aptos"/>
              </a:rPr>
              <a:t>Una transacción agrupa operaciones que deben conservar la consistencia de los datos.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" y="2423160"/>
            <a:ext cx="217627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00784" y="2084831"/>
            <a:ext cx="484632" cy="484632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3936" y="2194560"/>
            <a:ext cx="329184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816352"/>
            <a:ext cx="190195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0D203A"/>
                </a:solidFill>
                <a:latin typeface="Aptos"/>
              </a:rPr>
              <a:t>Validar cupo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816352"/>
            <a:ext cx="310896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900" b="1">
                <a:solidFill>
                  <a:srgbClr val="F28B2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1024" y="2423160"/>
            <a:ext cx="217627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2084831"/>
            <a:ext cx="484632" cy="484632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194560"/>
            <a:ext cx="329184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2816352"/>
            <a:ext cx="190195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0D203A"/>
                </a:solidFill>
                <a:latin typeface="Aptos"/>
              </a:rPr>
              <a:t>Crear inscripción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816352"/>
            <a:ext cx="310896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900" b="1">
                <a:solidFill>
                  <a:srgbClr val="F28B2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2423160"/>
            <a:ext cx="217627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0" y="2084831"/>
            <a:ext cx="484632" cy="484632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2194560"/>
            <a:ext cx="329184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816352"/>
            <a:ext cx="190195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0D203A"/>
                </a:solidFill>
                <a:latin typeface="Aptos"/>
              </a:rPr>
              <a:t>Reducir cupo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816352"/>
            <a:ext cx="310896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900" b="1">
                <a:solidFill>
                  <a:srgbClr val="F28B2A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423160"/>
            <a:ext cx="217627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85248" y="2084831"/>
            <a:ext cx="484632" cy="484632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194560"/>
            <a:ext cx="329184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816352"/>
            <a:ext cx="1901952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0D203A"/>
                </a:solidFill>
                <a:latin typeface="Aptos"/>
              </a:rPr>
              <a:t>Confirmar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187952"/>
            <a:ext cx="50292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187952"/>
            <a:ext cx="91440" cy="1261872"/>
          </a:xfrm>
          <a:prstGeom prst="rect">
            <a:avLst/>
          </a:prstGeom>
          <a:solidFill>
            <a:srgbClr val="228B67"/>
          </a:solidFill>
          <a:ln>
            <a:solidFill>
              <a:srgbClr val="22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334256"/>
            <a:ext cx="46451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" y="4837176"/>
            <a:ext cx="4681728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1F2B37"/>
                </a:solidFill>
                <a:latin typeface="Aptos"/>
              </a:rPr>
              <a:t>Confirma todos los cambios si el proceso termina correctamente.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4187952"/>
            <a:ext cx="50292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7648" y="4187952"/>
            <a:ext cx="91440" cy="1261872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4334256"/>
            <a:ext cx="46451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ROLLBACK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837176"/>
            <a:ext cx="4681728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1F2B37"/>
                </a:solidFill>
                <a:latin typeface="Aptos"/>
              </a:rPr>
              <a:t>Revierte todos los cambios si ocurre un error en algún paso.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Propiedades ACID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508406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37943"/>
            <a:ext cx="658368" cy="658368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29967"/>
            <a:ext cx="256032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37943"/>
            <a:ext cx="36118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1">
                <a:solidFill>
                  <a:srgbClr val="0D203A"/>
                </a:solidFill>
                <a:latin typeface="Aptos"/>
              </a:rPr>
              <a:t>Atomicidad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313432"/>
            <a:ext cx="3712463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1F2B37"/>
                </a:solidFill>
                <a:latin typeface="Aptos"/>
              </a:rPr>
              <a:t>Todo se realiza o nada se aplica.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600200"/>
            <a:ext cx="508406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28232" y="1837943"/>
            <a:ext cx="658368" cy="658368"/>
          </a:xfrm>
          <a:prstGeom prst="round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29967"/>
            <a:ext cx="256032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1837943"/>
            <a:ext cx="36118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1">
                <a:solidFill>
                  <a:srgbClr val="0D203A"/>
                </a:solidFill>
                <a:latin typeface="Aptos"/>
              </a:rPr>
              <a:t>Consistencia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313432"/>
            <a:ext cx="3712463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1F2B37"/>
                </a:solidFill>
                <a:latin typeface="Aptos"/>
              </a:rPr>
              <a:t>Las reglas e integridad se conservan.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611880"/>
            <a:ext cx="508406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849624"/>
            <a:ext cx="658368" cy="658368"/>
          </a:xfrm>
          <a:prstGeom prst="round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041648"/>
            <a:ext cx="256032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849624"/>
            <a:ext cx="36118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1">
                <a:solidFill>
                  <a:srgbClr val="0D203A"/>
                </a:solidFill>
                <a:latin typeface="Aptos"/>
              </a:rPr>
              <a:t>Aislamiento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325112"/>
            <a:ext cx="3712463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1F2B37"/>
                </a:solidFill>
                <a:latin typeface="Aptos"/>
              </a:rPr>
              <a:t>Operaciones simultáneas no deben interferir incorrectamente.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611880"/>
            <a:ext cx="5084064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28232" y="3849624"/>
            <a:ext cx="658368" cy="658368"/>
          </a:xfrm>
          <a:prstGeom prst="roundRect">
            <a:avLst/>
          </a:prstGeom>
          <a:solidFill>
            <a:srgbClr val="228B67"/>
          </a:solidFill>
          <a:ln>
            <a:solidFill>
              <a:srgbClr val="22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041648"/>
            <a:ext cx="256032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3849624"/>
            <a:ext cx="36118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1">
                <a:solidFill>
                  <a:srgbClr val="0D203A"/>
                </a:solidFill>
                <a:latin typeface="Aptos"/>
              </a:rPr>
              <a:t>Durabilidad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4325112"/>
            <a:ext cx="3712463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1F2B37"/>
                </a:solidFill>
                <a:latin typeface="Aptos"/>
              </a:rPr>
              <a:t>Un cambio confirmado sobrevive a fallos.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42432"/>
            <a:ext cx="10515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5E6C79"/>
                </a:solidFill>
                <a:latin typeface="Aptos"/>
              </a:rPr>
              <a:t>Ejemplo: una inscripción no puede crearse si no se actualiza correctamente el cupo disponible.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Ejemplo: transacción en SQL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6720840" cy="4572000"/>
          </a:xfrm>
          <a:prstGeom prst="roundRect">
            <a:avLst/>
          </a:prstGeom>
          <a:solidFill>
            <a:srgbClr val="0D203A"/>
          </a:solidFill>
          <a:ln>
            <a:solidFill>
              <a:srgbClr val="0D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2"/>
            <a:ext cx="6217920" cy="4206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Consolas"/>
              </a:rPr>
              <a:t>BEGIN TRY</a:t>
            </a:r>
            <a:br/>
            <a:r>
              <a:rPr sz="1400" b="0">
                <a:solidFill>
                  <a:srgbClr val="EAF5FF"/>
                </a:solidFill>
                <a:latin typeface="Consolas"/>
              </a:rPr>
              <a:t>  BEGIN TRANSACTION;</a:t>
            </a:r>
            <a:br/>
            <a:br/>
            <a:r>
              <a:rPr sz="1400" b="0">
                <a:solidFill>
                  <a:srgbClr val="EAF5FF"/>
                </a:solidFill>
                <a:latin typeface="Consolas"/>
              </a:rPr>
              <a:t>  INSERT INTO Inscripciones (IdEstudiante, IdMateria)</a:t>
            </a:r>
            <a:br/>
            <a:r>
              <a:rPr sz="1400" b="0">
                <a:solidFill>
                  <a:srgbClr val="EAF5FF"/>
                </a:solidFill>
                <a:latin typeface="Consolas"/>
              </a:rPr>
              <a:t>  VALUES (@IdEstudiante, @IdMateria);</a:t>
            </a:r>
            <a:br/>
            <a:br/>
            <a:r>
              <a:rPr sz="1400" b="0">
                <a:solidFill>
                  <a:srgbClr val="EAF5FF"/>
                </a:solidFill>
                <a:latin typeface="Consolas"/>
              </a:rPr>
              <a:t>  UPDATE Materias SET CupoDisponible = CupoDisponible - 1</a:t>
            </a:r>
            <a:br/>
            <a:r>
              <a:rPr sz="1400" b="0">
                <a:solidFill>
                  <a:srgbClr val="EAF5FF"/>
                </a:solidFill>
                <a:latin typeface="Consolas"/>
              </a:rPr>
              <a:t>  WHERE IdMateria = @IdMateria AND CupoDisponible &gt; 0;</a:t>
            </a:r>
            <a:br/>
            <a:br/>
            <a:r>
              <a:rPr sz="1400" b="0">
                <a:solidFill>
                  <a:srgbClr val="EAF5FF"/>
                </a:solidFill>
                <a:latin typeface="Consolas"/>
              </a:rPr>
              <a:t>  COMMIT TRANSACTION;</a:t>
            </a:r>
            <a:br/>
            <a:r>
              <a:rPr sz="1400" b="0">
                <a:solidFill>
                  <a:srgbClr val="EAF5FF"/>
                </a:solidFill>
                <a:latin typeface="Consolas"/>
              </a:rPr>
              <a:t>END TRY</a:t>
            </a:r>
            <a:br/>
            <a:r>
              <a:rPr sz="1400" b="0">
                <a:solidFill>
                  <a:srgbClr val="EAF5FF"/>
                </a:solidFill>
                <a:latin typeface="Consolas"/>
              </a:rPr>
              <a:t>BEGIN CATCH</a:t>
            </a:r>
            <a:br/>
            <a:r>
              <a:rPr sz="1400" b="0">
                <a:solidFill>
                  <a:srgbClr val="EAF5FF"/>
                </a:solidFill>
                <a:latin typeface="Consolas"/>
              </a:rPr>
              <a:t>  ROLLBACK TRANSACTION;</a:t>
            </a:r>
            <a:br/>
            <a:r>
              <a:rPr sz="1400" b="0">
                <a:solidFill>
                  <a:srgbClr val="EAF5FF"/>
                </a:solidFill>
                <a:latin typeface="Consolas"/>
              </a:rPr>
              <a:t>  THROW;</a:t>
            </a:r>
            <a:br/>
            <a:r>
              <a:rPr sz="1400" b="0">
                <a:solidFill>
                  <a:srgbClr val="EAF5FF"/>
                </a:solidFill>
                <a:latin typeface="Consolas"/>
              </a:rPr>
              <a:t>END CATCH;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54480"/>
            <a:ext cx="3749039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554480"/>
            <a:ext cx="91440" cy="1993392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700784"/>
            <a:ext cx="3364991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Antes de confirmar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2212848"/>
            <a:ext cx="3428999" cy="1243584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Validar que existe cupo.</a:t>
            </a:r>
          </a:p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Verificar que el estudiante no esté ya inscrito.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840480"/>
            <a:ext cx="3749039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840480"/>
            <a:ext cx="91440" cy="1993392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3986784"/>
            <a:ext cx="3364991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En caso de fallo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4498848"/>
            <a:ext cx="3428999" cy="1243584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Ejecutar ROLLBACK.</a:t>
            </a:r>
          </a:p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No dejar una inscripción sin actualizar el cupo.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2.3 Procedimientos almacenados y funciones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91440" cy="434340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Procedimiento almacenado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3108960" cy="3593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Conjunto de instrucciones con nombre.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Puede insertar, actualizar o eliminar.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Acepta parámetros y puede devolver resultados.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Ejemplo: RegistrarInscripcion.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554480"/>
            <a:ext cx="91440" cy="4343400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Función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212848"/>
            <a:ext cx="3108960" cy="3593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Devuelve un valor o una tabla.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Se usa dentro de consultas, según el tipo.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Ejemplo: calcular promedio o total de créditos.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554480"/>
            <a:ext cx="91440" cy="434340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Criterio de uso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212848"/>
            <a:ext cx="3108960" cy="3593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Útiles para centralizar reglas cercanas a los datos.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Evitar lógica excesiva y difícil de mantener.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Documentar parámetros, resultados y efectos.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Ejemplo: procedimiento almacenado parametrizado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6812280" cy="4526280"/>
          </a:xfrm>
          <a:prstGeom prst="roundRect">
            <a:avLst/>
          </a:prstGeom>
          <a:solidFill>
            <a:srgbClr val="0D203A"/>
          </a:solidFill>
          <a:ln>
            <a:solidFill>
              <a:srgbClr val="0D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3936"/>
            <a:ext cx="6309360" cy="4023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EAF5FF"/>
                </a:solidFill>
                <a:latin typeface="Consolas"/>
              </a:rPr>
              <a:t>CREATE PROCEDURE RegistrarInscripcion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  @IdEstudiante INT,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  @IdMateria INT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AS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BEGIN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  SET NOCOUNT ON;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  INSERT INTO Inscripciones (IdEstudiante, IdMateria)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  VALUES (@IdEstudiante, @IdMateria);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END;</a:t>
            </a:r>
            <a:br/>
            <a:r>
              <a:rPr sz="1500" b="0">
                <a:solidFill>
                  <a:srgbClr val="EAF5FF"/>
                </a:solidFill>
                <a:latin typeface="Consolas"/>
              </a:rPr>
              <a:t>GO</a:t>
            </a:r>
            <a:br/>
            <a:br/>
            <a:r>
              <a:rPr sz="1500" b="0">
                <a:solidFill>
                  <a:srgbClr val="EAF5FF"/>
                </a:solidFill>
                <a:latin typeface="Consolas"/>
              </a:rPr>
              <a:t>EXEC RegistrarInscripcion @IdEstudiante = 1, @IdMateria = 3;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572768"/>
            <a:ext cx="362102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572768"/>
            <a:ext cx="91440" cy="192024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19072"/>
            <a:ext cx="3236976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Beneficios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231136"/>
            <a:ext cx="3300984" cy="117043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Reutilización.</a:t>
            </a:r>
          </a:p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Parámetros explícitos.</a:t>
            </a:r>
          </a:p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Permisos controlados sobre la operación.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22191"/>
            <a:ext cx="362102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3822191"/>
            <a:ext cx="91440" cy="192024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968496"/>
            <a:ext cx="3236976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Precaución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480559"/>
            <a:ext cx="3300984" cy="117043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B37"/>
                </a:solidFill>
                <a:latin typeface="Aptos"/>
              </a:defRPr>
            </a:pPr>
            <a:r>
              <a:t>El procedimiento no protege por sí solo: validar reglas y manejar errores.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2.4 Índices: acelerar lecturas con criterio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27048"/>
            <a:ext cx="1078992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1F2B37"/>
                </a:solidFill>
                <a:latin typeface="Aptos"/>
              </a:rPr>
              <a:t>Un índice es una estructura que ayuda al motor a encontrar filas con menos trabajo.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57400"/>
            <a:ext cx="91440" cy="361188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0370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Conviene indexar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15768"/>
            <a:ext cx="3108960" cy="28620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Columnas usadas con frecuencia en WHERE, JOIN u ORDER BY.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Claves foráneas usadas en relaciones.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Columnas con buena selectividad.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0574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2057400"/>
            <a:ext cx="91440" cy="361188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20370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Costo de los índices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715768"/>
            <a:ext cx="3108960" cy="28620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Consumen almacenamiento.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INSERT, UPDATE y DELETE pueden ser más lentos.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Demasiados índices también perjudican.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0574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2057400"/>
            <a:ext cx="91440" cy="3611880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220370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Ejemplo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715768"/>
            <a:ext cx="3108960" cy="28620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Buscar repetidamente por matrícula.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Índice único en Estudiantes(Matricula).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Medir antes y después de optimizar.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Optimización: observar antes de cambiar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44168" y="1627632"/>
            <a:ext cx="566928" cy="566928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7904" y="1810512"/>
            <a:ext cx="219456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23160"/>
            <a:ext cx="162763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D203A"/>
                </a:solidFill>
                <a:latin typeface="Aptos"/>
              </a:rPr>
              <a:t>Detectar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944368"/>
            <a:ext cx="1627632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1F2B37"/>
                </a:solidFill>
                <a:latin typeface="Aptos"/>
              </a:rPr>
              <a:t>Consulta lenta o costosa.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201168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48456" y="1627632"/>
            <a:ext cx="566928" cy="566928"/>
          </a:xfrm>
          <a:prstGeom prst="round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1810512"/>
            <a:ext cx="219456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23160"/>
            <a:ext cx="162763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D203A"/>
                </a:solidFill>
                <a:latin typeface="Aptos"/>
              </a:rPr>
              <a:t>Medir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944368"/>
            <a:ext cx="1627632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1F2B37"/>
                </a:solidFill>
                <a:latin typeface="Aptos"/>
              </a:rPr>
              <a:t>Tiempo, lecturas y plan de ejecución.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6" y="201168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52744" y="1627632"/>
            <a:ext cx="566928" cy="566928"/>
          </a:xfrm>
          <a:prstGeom prst="round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810512"/>
            <a:ext cx="219456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423160"/>
            <a:ext cx="162763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D203A"/>
                </a:solidFill>
                <a:latin typeface="Aptos"/>
              </a:rPr>
              <a:t>Analizar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944368"/>
            <a:ext cx="1627632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1F2B37"/>
                </a:solidFill>
                <a:latin typeface="Aptos"/>
              </a:rPr>
              <a:t>Filtros, JOIN, índices y cardinalidad.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201168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57031" y="1627632"/>
            <a:ext cx="566928" cy="566928"/>
          </a:xfrm>
          <a:prstGeom prst="roundRect">
            <a:avLst/>
          </a:prstGeom>
          <a:solidFill>
            <a:srgbClr val="228B67"/>
          </a:solidFill>
          <a:ln>
            <a:solidFill>
              <a:srgbClr val="22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7" y="1810512"/>
            <a:ext cx="219456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2423160"/>
            <a:ext cx="162763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D203A"/>
                </a:solidFill>
                <a:latin typeface="Aptos"/>
              </a:rPr>
              <a:t>Mejorar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2944368"/>
            <a:ext cx="1627632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1F2B37"/>
                </a:solidFill>
                <a:latin typeface="Aptos"/>
              </a:rPr>
              <a:t>Reescribir o crear índice justificado.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57232" y="201168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61319" y="1627632"/>
            <a:ext cx="566928" cy="566928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35055" y="1810512"/>
            <a:ext cx="219456" cy="1554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1824" y="2423160"/>
            <a:ext cx="162763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D203A"/>
                </a:solidFill>
                <a:latin typeface="Aptos"/>
              </a:rPr>
              <a:t>Verificar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944368"/>
            <a:ext cx="1627632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1F2B37"/>
                </a:solidFill>
                <a:latin typeface="Aptos"/>
              </a:rPr>
              <a:t>Comparar resultados y rendimiento.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175504"/>
            <a:ext cx="1056132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5E6C79"/>
                </a:solidFill>
                <a:latin typeface="Aptos"/>
              </a:rPr>
              <a:t>Herramientas en SQL Server: Actual Execution Plan, estadísticas de E/S y tiempo, Query Store (según edición/configuración).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2.5 Concurrencia, bloqueos y niveles de aislamiento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91440" cy="434340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Concurrencia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3081528" cy="3593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0">
                <a:solidFill>
                  <a:srgbClr val="1F2B37"/>
                </a:solidFill>
                <a:latin typeface="Aptos"/>
              </a:rPr>
              <a:t>Varios usuarios pueden consultar o modificar datos al mismo tiempo. El SGBD debe proteger la consistencia.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554480"/>
            <a:ext cx="91440" cy="43434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Problemas posibles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212848"/>
            <a:ext cx="3108960" cy="3593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Lectura sucia.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Lectura no repetible.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Lectura fantasma.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Bloqueos prolongados o interbloqueos.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554480"/>
            <a:ext cx="91440" cy="4343400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Buenas prácticas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212848"/>
            <a:ext cx="3108960" cy="3593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Transacciones cortas.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Índices adecuados.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Acceder a recursos en orden consistente.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Elegir aislamiento según necesidad.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2.6 Introducción a NoSQL: complemento, no reemplazo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91440" cy="434340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Documentos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3081528" cy="3593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0">
                <a:solidFill>
                  <a:srgbClr val="1F2B37"/>
                </a:solidFill>
                <a:latin typeface="Aptos"/>
              </a:rPr>
              <a:t>MongoDB puede ser útil para catálogos de datos variables o contenido JSON con estructuras flexibles.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554480"/>
            <a:ext cx="91440" cy="434340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Clave–valor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03704"/>
            <a:ext cx="3081528" cy="3593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0">
                <a:solidFill>
                  <a:srgbClr val="1F2B37"/>
                </a:solidFill>
                <a:latin typeface="Aptos"/>
              </a:rPr>
              <a:t>Redis se utiliza comúnmente para caché, sesiones, colas o datos temporales de acceso rápido.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554480"/>
            <a:ext cx="91440" cy="4343400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700784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Decisión profesional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212848"/>
            <a:ext cx="3108960" cy="3593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Usar SQL para relaciones, integridad y transacciones.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Usar NoSQL si el problema justifica su modelo y operación.</a:t>
            </a:r>
          </a:p>
          <a:p>
            <a:pPr>
              <a:spcAft>
                <a:spcPts val="700"/>
              </a:spcAft>
              <a:defRPr sz="1600">
                <a:solidFill>
                  <a:srgbClr val="1F2B37"/>
                </a:solidFill>
                <a:latin typeface="Aptos"/>
              </a:defRPr>
            </a:pPr>
            <a:r>
              <a:t>Es posible una arquitectura con ambos.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Práctica integradora: inscripciones y rendimiento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104241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1">
                <a:solidFill>
                  <a:srgbClr val="0D203A"/>
                </a:solidFill>
                <a:latin typeface="Aptos"/>
              </a:rPr>
              <a:t>Extender el Sistema Escolar con reglas de inscripción y análisis de consultas.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21408"/>
            <a:ext cx="34290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21408"/>
            <a:ext cx="91440" cy="1261872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Modelar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70632"/>
            <a:ext cx="3081528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F2B37"/>
                </a:solidFill>
                <a:latin typeface="Aptos"/>
              </a:rPr>
              <a:t>Materias, Inscripciones y cupo disponible.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121408"/>
            <a:ext cx="34290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2121408"/>
            <a:ext cx="91440" cy="1261872"/>
          </a:xfrm>
          <a:prstGeom prst="rect">
            <a:avLst/>
          </a:prstGeom>
          <a:solidFill>
            <a:srgbClr val="0069B4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267712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Consultar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70632"/>
            <a:ext cx="3081528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F2B37"/>
                </a:solidFill>
                <a:latin typeface="Aptos"/>
              </a:rPr>
              <a:t>JOIN y agregaciones para reportes.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2121408"/>
            <a:ext cx="34290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1896" y="2121408"/>
            <a:ext cx="91440" cy="1261872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2267712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Proteger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770632"/>
            <a:ext cx="3081528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F2B37"/>
                </a:solidFill>
                <a:latin typeface="Aptos"/>
              </a:rPr>
              <a:t>Transacción para inscripción + actualización de cupo.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21608"/>
            <a:ext cx="34290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21608"/>
            <a:ext cx="91440" cy="1261872"/>
          </a:xfrm>
          <a:prstGeom prst="rect">
            <a:avLst/>
          </a:prstGeom>
          <a:solidFill>
            <a:srgbClr val="228B67"/>
          </a:solidFill>
          <a:ln>
            <a:solidFill>
              <a:srgbClr val="22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67912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Programar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370832"/>
            <a:ext cx="3081528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F2B37"/>
                </a:solidFill>
                <a:latin typeface="Aptos"/>
              </a:rPr>
              <a:t>Procedimiento almacenado parametrizado.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8848" y="3721608"/>
            <a:ext cx="34290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98848" y="3721608"/>
            <a:ext cx="91440" cy="1261872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867912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Optimizar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370832"/>
            <a:ext cx="3081528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F2B37"/>
                </a:solidFill>
                <a:latin typeface="Aptos"/>
              </a:rPr>
              <a:t>Índice justificado y comparación de consulta.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1896" y="3721608"/>
            <a:ext cx="34290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1896" y="3721608"/>
            <a:ext cx="91440" cy="1261872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3867912"/>
            <a:ext cx="3044952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0D203A"/>
                </a:solidFill>
                <a:latin typeface="Aptos"/>
              </a:rPr>
              <a:t>Documentar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4370832"/>
            <a:ext cx="3081528" cy="51206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F2B37"/>
                </a:solidFill>
                <a:latin typeface="Aptos"/>
              </a:rPr>
              <a:t>Script, pruebas y decisiones técnicas.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605272"/>
            <a:ext cx="1042416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5E6C79"/>
                </a:solidFill>
                <a:latin typeface="Aptos"/>
              </a:rPr>
              <a:t>Evidencia: repositorio Git, script SQL, reporte breve de rendimiento y demostración de transacción.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097A7"/>
                </a:solidFill>
                <a:latin typeface="Aptos"/>
              </a:rPr>
              <a:t>UNIDAD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0D203A"/>
                </a:solidFill>
                <a:latin typeface="Aptos"/>
              </a:rPr>
              <a:t>Evidencias y evaluación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F28B2A"/>
          </a:solidFill>
          <a:ln>
            <a:solidFill>
              <a:srgbClr val="F2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09728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5E6C79"/>
                </a:solidFill>
                <a:latin typeface="Aptos"/>
              </a:rPr>
              <a:t>Manejo Avanzado de Datos · Bases de Datos con C#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10607040" cy="548640"/>
          </a:xfrm>
          <a:prstGeom prst="roundRect">
            <a:avLst/>
          </a:prstGeom>
          <a:solidFill>
            <a:srgbClr val="0D203A"/>
          </a:solidFill>
          <a:ln>
            <a:solidFill>
              <a:srgbClr val="0D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46504"/>
            <a:ext cx="731520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Evidencia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746504"/>
            <a:ext cx="1097280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21408"/>
            <a:ext cx="10607040" cy="6309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80467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1F2B37"/>
                </a:solidFill>
                <a:latin typeface="Aptos"/>
              </a:rPr>
              <a:t>Consultas SQL avanzadas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230428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097A7"/>
                </a:solidFill>
                <a:latin typeface="Aptos"/>
              </a:rPr>
              <a:t>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761487"/>
            <a:ext cx="10607040" cy="630936"/>
          </a:xfrm>
          <a:prstGeom prst="rect">
            <a:avLst/>
          </a:prstGeom>
          <a:solidFill>
            <a:srgbClr val="E5F1FB"/>
          </a:solidFill>
          <a:ln>
            <a:solidFill>
              <a:srgbClr val="E5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44368"/>
            <a:ext cx="80467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1F2B37"/>
                </a:solidFill>
                <a:latin typeface="Aptos"/>
              </a:rPr>
              <a:t>Transacciones y control de consistencia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294436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097A7"/>
                </a:solidFill>
                <a:latin typeface="Aptos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01568"/>
            <a:ext cx="10607040" cy="6309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80467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1F2B37"/>
                </a:solidFill>
                <a:latin typeface="Aptos"/>
              </a:rPr>
              <a:t>Procedimientos almacenados / funciones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58444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097A7"/>
                </a:solidFill>
                <a:latin typeface="Aptos"/>
              </a:rPr>
              <a:t>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41648"/>
            <a:ext cx="10607040" cy="630936"/>
          </a:xfrm>
          <a:prstGeom prst="rect">
            <a:avLst/>
          </a:prstGeom>
          <a:solidFill>
            <a:srgbClr val="E5F1FB"/>
          </a:solidFill>
          <a:ln>
            <a:solidFill>
              <a:srgbClr val="E5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24528"/>
            <a:ext cx="80467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1F2B37"/>
                </a:solidFill>
                <a:latin typeface="Aptos"/>
              </a:rPr>
              <a:t>Índices y análisis de rendimiento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422452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097A7"/>
                </a:solidFill>
                <a:latin typeface="Aptos"/>
              </a:rPr>
              <a:t>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681727"/>
            <a:ext cx="10607040" cy="6309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64607"/>
            <a:ext cx="80467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0">
                <a:solidFill>
                  <a:srgbClr val="1F2B37"/>
                </a:solidFill>
                <a:latin typeface="Aptos"/>
              </a:rPr>
              <a:t>Práctica integradora documentada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4864607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097A7"/>
                </a:solidFill>
                <a:latin typeface="Aptos"/>
              </a:rP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632704"/>
            <a:ext cx="102870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0D203A"/>
                </a:solidFill>
                <a:latin typeface="Aptos"/>
              </a:rPr>
              <a:t>Criterios: corrección, integridad, seguridad, evidencia de pruebas, rendimiento y documentación.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62179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AEE4E4"/>
                </a:solidFill>
                <a:latin typeface="Aptos"/>
              </a:rPr>
              <a:t>CIERRE DE LA 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949440" cy="960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Datos correctos,</a:t>
            </a:r>
            <a:br/>
            <a:r>
              <a:rPr sz="3400" b="1">
                <a:solidFill>
                  <a:srgbClr val="FFFFFF"/>
                </a:solidFill>
                <a:latin typeface="Aptos"/>
              </a:rPr>
              <a:t>operaciones confiables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58768"/>
            <a:ext cx="6766560" cy="7132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0">
                <a:solidFill>
                  <a:srgbClr val="DEF0F6"/>
                </a:solidFill>
                <a:latin typeface="Aptos"/>
              </a:rPr>
              <a:t>Una consulta útil no solo devuelve resultados:</a:t>
            </a:r>
            <a:br/>
            <a:r>
              <a:rPr sz="1800" b="0">
                <a:solidFill>
                  <a:srgbClr val="DEF0F6"/>
                </a:solidFill>
                <a:latin typeface="Aptos"/>
              </a:rPr>
              <a:t>debe ser correcta, segura y eficiente.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833872"/>
            <a:ext cx="6400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Siguiente paso: aplicaciones modernas con EF Core y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0848" y="1975104"/>
            <a:ext cx="26974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600" b="1">
                <a:solidFill>
                  <a:srgbClr val="0D203A"/>
                </a:solidFill>
                <a:latin typeface="Aptos"/>
              </a:rPr>
              <a:t>Preguntas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8552" y="2615184"/>
            <a:ext cx="2834640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0D203A"/>
                </a:solidFill>
                <a:latin typeface="Aptos"/>
              </a:rPr>
              <a:t>¿Qué operación de tu sistema debe ser atómica?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2 - Manejo Avanzado de Datos</dc:title>
  <dc:subject>Presentación para Ingeniería en Sistemas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